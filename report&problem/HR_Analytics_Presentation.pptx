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93520" y="2744662"/>
            <a:ext cx="658970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HR Analytics: Job Change of Data Scientists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93520" y="5224337"/>
            <a:ext cx="6589707" cy="1329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b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Predicting Candidate Job-Change Likelihood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Calibri"/>
              </a:rPr>
              <a:t>A company offers free data-science training. Some trainees stay; others use it as a stepping stone.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515600" cy="1280160"/>
          </a:xfrm>
          <a:prstGeom prst="roundRect">
            <a:avLst/>
          </a:prstGeom>
          <a:solidFill>
            <a:srgbClr val="D9E2F3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>
                <a:solidFill>
                  <a:srgbClr val="1F3864"/>
                </a:solidFill>
                <a:latin typeface="Calibri"/>
              </a:rPr>
              <a:t>Training every candidate is costly. The company needs to identify — in advance — who is likely to leave, so retention and hiring efforts focus on the right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595959"/>
                </a:solidFill>
                <a:latin typeface="Calibri"/>
              </a:rPr>
              <a:t>Framed as binary classification:</a:t>
            </a:r>
            <a:br>
              <a:rPr sz="2000" dirty="0"/>
            </a:br>
            <a:r>
              <a:rPr sz="2000" dirty="0"/>
              <a:t>Target = 1  →  Looking for a new job</a:t>
            </a:r>
            <a:br>
              <a:rPr sz="2000" dirty="0"/>
            </a:br>
            <a:r>
              <a:rPr sz="2000" dirty="0"/>
              <a:t>Target = 0  →  Not looking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2.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Calibri"/>
              </a:rPr>
              <a:t>Source: HR Analytics — Job Change of Data Scientists (Kaggle)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280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19,158</a:t>
            </a:r>
          </a:p>
          <a:p>
            <a:pPr algn="ctr"/>
            <a:r>
              <a:rPr sz="1200">
                <a:solidFill>
                  <a:srgbClr val="D9E2F3"/>
                </a:solidFill>
                <a:latin typeface="Calibri"/>
              </a:rPr>
              <a:t>Training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560320" cy="1280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14</a:t>
            </a:r>
          </a:p>
          <a:p>
            <a:pPr algn="ctr"/>
            <a:r>
              <a:rPr sz="1200" dirty="0">
                <a:solidFill>
                  <a:srgbClr val="D9E2F3"/>
                </a:solidFill>
                <a:latin typeface="Calibri"/>
              </a:rPr>
              <a:t>Columns (13 features +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560320" cy="1280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2,129</a:t>
            </a:r>
          </a:p>
          <a:p>
            <a:pPr algn="ctr"/>
            <a:r>
              <a:rPr sz="1200">
                <a:solidFill>
                  <a:srgbClr val="D9E2F3"/>
                </a:solidFill>
                <a:latin typeface="Calibri"/>
              </a:rPr>
              <a:t>Test Rows (unlabeled)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011680"/>
            <a:ext cx="2560320" cy="1280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75.1% / 24.9%</a:t>
            </a:r>
          </a:p>
          <a:p>
            <a:pPr algn="ctr"/>
            <a:r>
              <a:rPr sz="1200">
                <a:solidFill>
                  <a:srgbClr val="D9E2F3"/>
                </a:solidFill>
                <a:latin typeface="Calibri"/>
              </a:rPr>
              <a:t>Class Balance (imbalanced)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Key Data Quality Issues &amp; Handling: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• Missing values up to 32% — kept as own category (carries signal)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• Disguised numeric text ('&lt;1', '&gt;20', 'never') — mapped to integers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• High-cardinality city (123 values) — dropped, used city_development_index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• Engineered feature: missing company info flag → 2× higher job-hunt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3. Methodology &amp; Approach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Cleaned, encoded, stratified 80/20 split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5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Logistic Regression, KNN, SVM, Random Forest, XGBoost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Class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class_weight='balanced' / scale_pos_weight applied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1999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Threshold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19 thresholds (0.05–0.95), F1-maximizing chosen per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62356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897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F1-score as primary metric (balances precision &amp; recall)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4. Results — Model Comparison</a:t>
            </a:r>
          </a:p>
        </p:txBody>
      </p:sp>
      <p:pic>
        <p:nvPicPr>
          <p:cNvPr id="4" name="Picture 3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5663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2396427"/>
            <a:ext cx="4389120" cy="233382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1F3864"/>
                </a:solidFill>
              </a:rPr>
              <a:t>Best F1 per Model</a:t>
            </a:r>
          </a:p>
          <a:p>
            <a:pPr algn="l">
              <a:spcBef>
                <a:spcPts val="800"/>
              </a:spcBef>
            </a:pPr>
            <a:r>
              <a:rPr sz="1400" b="1" dirty="0" err="1">
                <a:solidFill>
                  <a:srgbClr val="1F3864"/>
                </a:solidFill>
              </a:rPr>
              <a:t>XGBoost</a:t>
            </a:r>
            <a:r>
              <a:rPr sz="1400" b="1" dirty="0">
                <a:solidFill>
                  <a:srgbClr val="1F3864"/>
                </a:solidFill>
              </a:rPr>
              <a:t>:  F1 = 0.6364  (thresh 0.50)</a:t>
            </a:r>
          </a:p>
          <a:p>
            <a:pPr algn="l">
              <a:spcBef>
                <a:spcPts val="800"/>
              </a:spcBef>
            </a:pPr>
            <a:r>
              <a:rPr sz="1400" b="0" dirty="0">
                <a:solidFill>
                  <a:srgbClr val="595959"/>
                </a:solidFill>
              </a:rPr>
              <a:t> SVM:  F1 = 0.6201  (thresh 0.35)</a:t>
            </a:r>
          </a:p>
          <a:p>
            <a:pPr algn="l">
              <a:spcBef>
                <a:spcPts val="800"/>
              </a:spcBef>
            </a:pPr>
            <a:r>
              <a:rPr sz="1400" b="0" dirty="0">
                <a:solidFill>
                  <a:srgbClr val="595959"/>
                </a:solidFill>
              </a:rPr>
              <a:t> Random Forest:  F1 = 0.6138  (thresh 0.30)</a:t>
            </a:r>
          </a:p>
          <a:p>
            <a:pPr algn="l">
              <a:spcBef>
                <a:spcPts val="800"/>
              </a:spcBef>
            </a:pPr>
            <a:r>
              <a:rPr sz="1400" b="0" dirty="0">
                <a:solidFill>
                  <a:srgbClr val="595959"/>
                </a:solidFill>
              </a:rPr>
              <a:t>Logistic Regression:  F1 = 0.6006  (thresh 0.55)</a:t>
            </a:r>
          </a:p>
          <a:p>
            <a:pPr algn="l">
              <a:spcBef>
                <a:spcPts val="800"/>
              </a:spcBef>
            </a:pPr>
            <a:r>
              <a:rPr sz="1400" b="0" dirty="0">
                <a:solidFill>
                  <a:srgbClr val="595959"/>
                </a:solidFill>
              </a:rPr>
              <a:t>KNN:  F1 = 0.5029  (thresh 0.05)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4. Results — Final Model: XGBoost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1188720"/>
            <a:ext cx="5303520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60720" y="1280160"/>
            <a:ext cx="5943600" cy="23774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Performance Metrics</a:t>
            </a:r>
          </a:p>
          <a:p>
            <a:pPr algn="ctr">
              <a:spcBef>
                <a:spcPts val="600"/>
              </a:spcBef>
            </a:pPr>
            <a:r>
              <a:rPr sz="1600" b="1" dirty="0">
                <a:solidFill>
                  <a:srgbClr val="D9E2F3"/>
                </a:solidFill>
              </a:rPr>
              <a:t>Precision (class 1):  0.55</a:t>
            </a:r>
          </a:p>
          <a:p>
            <a:pPr algn="ctr">
              <a:spcBef>
                <a:spcPts val="600"/>
              </a:spcBef>
            </a:pPr>
            <a:r>
              <a:rPr sz="1600" b="1" dirty="0">
                <a:solidFill>
                  <a:srgbClr val="D9E2F3"/>
                </a:solidFill>
              </a:rPr>
              <a:t>Recall (class 1):  0.75</a:t>
            </a:r>
          </a:p>
          <a:p>
            <a:pPr algn="ctr">
              <a:spcBef>
                <a:spcPts val="600"/>
              </a:spcBef>
            </a:pPr>
            <a:r>
              <a:rPr sz="1600" b="1" dirty="0">
                <a:solidFill>
                  <a:srgbClr val="D9E2F3"/>
                </a:solidFill>
              </a:rPr>
              <a:t>F1-Score (class 1):  0.64</a:t>
            </a:r>
          </a:p>
          <a:p>
            <a:pPr algn="ctr">
              <a:spcBef>
                <a:spcPts val="600"/>
              </a:spcBef>
            </a:pPr>
            <a:r>
              <a:rPr sz="1600" b="1" dirty="0">
                <a:solidFill>
                  <a:srgbClr val="D9E2F3"/>
                </a:solidFill>
              </a:rPr>
              <a:t>Overall Accuracy:  0.79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3931920"/>
            <a:ext cx="5943600" cy="1280160"/>
          </a:xfrm>
          <a:prstGeom prst="roundRect">
            <a:avLst/>
          </a:prstGeom>
          <a:solidFill>
            <a:srgbClr val="D9E2F3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1F3864"/>
                </a:solidFill>
              </a:rPr>
              <a:t>5-Fold Cross-Validation</a:t>
            </a:r>
          </a:p>
          <a:p>
            <a:pPr algn="ctr"/>
            <a:r>
              <a:rPr sz="1600" dirty="0">
                <a:solidFill>
                  <a:srgbClr val="595959"/>
                </a:solidFill>
              </a:rPr>
              <a:t>Mean F1 = 0.613 ± 0.005  (stable across folds)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Calibri"/>
              </a:rPr>
              <a:t>5. Business Impact &amp; Candidate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HR teams need a prioritized shortlist, not a flat flag 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solidFill>
            <a:srgbClr val="D9E2F3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3864"/>
                </a:solidFill>
              </a:rPr>
              <a:t>Precision@k (Validation Set)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1F3864"/>
                </a:solidFill>
              </a:rPr>
              <a:t>k = 10:  Precision = 0.60  (6 / 10 correct)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1F3864"/>
                </a:solidFill>
              </a:rPr>
              <a:t>k = 20:  Precision = 0.60  (12 / 20 correct)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1F3864"/>
                </a:solidFill>
              </a:rPr>
              <a:t>k = 50:  Precision = 0.66  (33 / 50 correct)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1F3864"/>
                </a:solidFill>
              </a:rPr>
              <a:t>k = 100:  Precision = 0.61  (61 / 100 correct)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303520" cy="27432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Business Value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D9E2F3"/>
                </a:solidFill>
              </a:rPr>
              <a:t>✓ 2.4–2.6× better than random guessing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D9E2F3"/>
                </a:solidFill>
              </a:rPr>
              <a:t>✓ Focus retention budget on high-risk candidates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D9E2F3"/>
                </a:solidFill>
              </a:rPr>
              <a:t>✓ Reduce wasted outreach to stable trainees</a:t>
            </a:r>
          </a:p>
          <a:p>
            <a:pPr algn="l">
              <a:spcBef>
                <a:spcPts val="1000"/>
              </a:spcBef>
            </a:pPr>
            <a:r>
              <a:rPr sz="1500">
                <a:solidFill>
                  <a:srgbClr val="D9E2F3"/>
                </a:solidFill>
              </a:rPr>
              <a:t>✓ Actionable Top-10 list for limited HR 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89920" cy="9144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Insight: Missing company info is a strong predictor — candidates without it are 2× more likely to job-hunt.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Smiling Face with No Fill">
            <a:extLst>
              <a:ext uri="{FF2B5EF4-FFF2-40B4-BE49-F238E27FC236}">
                <a16:creationId xmlns:a16="http://schemas.microsoft.com/office/drawing/2014/main" id="{BCDB4969-479F-627C-2BAC-193535E23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622061" y="762538"/>
            <a:ext cx="5649349" cy="31998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sX0" fmla="*/ 0 w 5303520"/>
              <a:gd name="csY0" fmla="*/ 0 h 18288"/>
              <a:gd name="csX1" fmla="*/ 556870 w 5303520"/>
              <a:gd name="csY1" fmla="*/ 0 h 18288"/>
              <a:gd name="csX2" fmla="*/ 1272845 w 5303520"/>
              <a:gd name="csY2" fmla="*/ 0 h 18288"/>
              <a:gd name="csX3" fmla="*/ 1882750 w 5303520"/>
              <a:gd name="csY3" fmla="*/ 0 h 18288"/>
              <a:gd name="csX4" fmla="*/ 2439619 w 5303520"/>
              <a:gd name="csY4" fmla="*/ 0 h 18288"/>
              <a:gd name="csX5" fmla="*/ 3155594 w 5303520"/>
              <a:gd name="csY5" fmla="*/ 0 h 18288"/>
              <a:gd name="csX6" fmla="*/ 3818534 w 5303520"/>
              <a:gd name="csY6" fmla="*/ 0 h 18288"/>
              <a:gd name="csX7" fmla="*/ 4481474 w 5303520"/>
              <a:gd name="csY7" fmla="*/ 0 h 18288"/>
              <a:gd name="csX8" fmla="*/ 5303520 w 5303520"/>
              <a:gd name="csY8" fmla="*/ 0 h 18288"/>
              <a:gd name="csX9" fmla="*/ 5303520 w 5303520"/>
              <a:gd name="csY9" fmla="*/ 18288 h 18288"/>
              <a:gd name="csX10" fmla="*/ 4746650 w 5303520"/>
              <a:gd name="csY10" fmla="*/ 18288 h 18288"/>
              <a:gd name="csX11" fmla="*/ 4242816 w 5303520"/>
              <a:gd name="csY11" fmla="*/ 18288 h 18288"/>
              <a:gd name="csX12" fmla="*/ 3526841 w 5303520"/>
              <a:gd name="csY12" fmla="*/ 18288 h 18288"/>
              <a:gd name="csX13" fmla="*/ 2969971 w 5303520"/>
              <a:gd name="csY13" fmla="*/ 18288 h 18288"/>
              <a:gd name="csX14" fmla="*/ 2253996 w 5303520"/>
              <a:gd name="csY14" fmla="*/ 18288 h 18288"/>
              <a:gd name="csX15" fmla="*/ 1484986 w 5303520"/>
              <a:gd name="csY15" fmla="*/ 18288 h 18288"/>
              <a:gd name="csX16" fmla="*/ 875081 w 5303520"/>
              <a:gd name="csY16" fmla="*/ 18288 h 18288"/>
              <a:gd name="csX17" fmla="*/ 0 w 5303520"/>
              <a:gd name="csY17" fmla="*/ 18288 h 18288"/>
              <a:gd name="csX18" fmla="*/ 0 w 530352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508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sherif</cp:lastModifiedBy>
  <cp:revision>6</cp:revision>
  <dcterms:created xsi:type="dcterms:W3CDTF">2013-01-27T09:14:16Z</dcterms:created>
  <dcterms:modified xsi:type="dcterms:W3CDTF">2026-08-17T06:49:08Z</dcterms:modified>
  <cp:category/>
</cp:coreProperties>
</file>